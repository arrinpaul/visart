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731520" cy="73152"/>
          </a:xfrm>
          <a:prstGeom prst="rect">
            <a:avLst/>
          </a:prstGeom>
          <a:solidFill>
            <a:srgbClr val="B85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BF8F2"/>
                </a:solidFill>
                <a:latin typeface="Georgia"/>
              </a:defRPr>
            </a:pPr>
            <a:r>
              <a:t>VISART</a:t>
            </a:r>
          </a:p>
          <a:p>
            <a:pPr>
              <a:spcBef>
                <a:spcPts val="400"/>
              </a:spcBef>
              <a:defRPr sz="1700">
                <a:solidFill>
                  <a:srgbClr val="A88752"/>
                </a:solidFill>
                <a:latin typeface="Georgia"/>
              </a:defRPr>
            </a:pPr>
            <a:r>
              <a:t>Inclusive AI Commerce Engine for Grassroots Artisans</a:t>
            </a:r>
          </a:p>
          <a:p>
            <a:pPr>
              <a:spcBef>
                <a:spcPts val="600"/>
              </a:spcBef>
              <a:defRPr sz="1100">
                <a:solidFill>
                  <a:srgbClr val="AAA8A0"/>
                </a:solidFill>
                <a:latin typeface="Inter"/>
              </a:defRPr>
            </a:pPr>
            <a:r>
              <a:t>V1 + V2 Shipped: Voice-to-form dictation, multilingual TTS audio narration, high-contrast accessibility, multimodal vision understanding &amp; fair-trade pricing.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993392" cy="246888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50" b="1">
                <a:solidFill>
                  <a:srgbClr val="FBF8F2"/>
                </a:solidFill>
                <a:latin typeface="Inter"/>
              </a:defRPr>
            </a:pPr>
            <a:r>
              <a:t>Mishael Julian</a:t>
            </a:r>
          </a:p>
          <a:p>
            <a:pPr>
              <a:spcBef>
                <a:spcPts val="200"/>
              </a:spcBef>
              <a:defRPr sz="950" b="1">
                <a:solidFill>
                  <a:srgbClr val="A88752"/>
                </a:solidFill>
                <a:latin typeface="Inter"/>
              </a:defRPr>
            </a:pPr>
            <a:r>
              <a:t>Experience &amp; UI Lead</a:t>
            </a:r>
          </a:p>
          <a:p>
            <a:pPr>
              <a:spcBef>
                <a:spcPts val="500"/>
              </a:spcBef>
              <a:defRPr sz="850">
                <a:solidFill>
                  <a:srgbClr val="C0BEB6"/>
                </a:solidFill>
                <a:latin typeface="Inter"/>
              </a:defRPr>
            </a:pPr>
            <a:r>
              <a:t>Tactile Paper Design System, Creator Flow (/create), Motion reveals, Verified Product Page (/product/[id]).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3931920"/>
            <a:ext cx="1993392" cy="246888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50" b="1">
                <a:solidFill>
                  <a:srgbClr val="FBF8F2"/>
                </a:solidFill>
                <a:latin typeface="Inter"/>
              </a:defRPr>
            </a:pPr>
            <a:r>
              <a:t>Abhishan Francis</a:t>
            </a:r>
          </a:p>
          <a:p>
            <a:pPr>
              <a:spcBef>
                <a:spcPts val="200"/>
              </a:spcBef>
              <a:defRPr sz="950" b="1">
                <a:solidFill>
                  <a:srgbClr val="A88752"/>
                </a:solidFill>
                <a:latin typeface="Inter"/>
              </a:defRPr>
            </a:pPr>
            <a:r>
              <a:t>AI &amp; Vision Lead</a:t>
            </a:r>
          </a:p>
          <a:p>
            <a:pPr>
              <a:spcBef>
                <a:spcPts val="500"/>
              </a:spcBef>
              <a:defRPr sz="850">
                <a:solidFill>
                  <a:srgbClr val="C0BEB6"/>
                </a:solidFill>
                <a:latin typeface="Inter"/>
              </a:defRPr>
            </a:pPr>
            <a:r>
              <a:t>Gemini 3.6 Flash multimodal vision pipeline, Anti-hallucination prompt architecture, 3-tier INR fair pricing math.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3931920"/>
            <a:ext cx="1993392" cy="246888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50" b="1">
                <a:solidFill>
                  <a:srgbClr val="FBF8F2"/>
                </a:solidFill>
                <a:latin typeface="Inter"/>
              </a:defRPr>
            </a:pPr>
            <a:r>
              <a:t>Abishek KS</a:t>
            </a:r>
          </a:p>
          <a:p>
            <a:pPr>
              <a:spcBef>
                <a:spcPts val="200"/>
              </a:spcBef>
              <a:defRPr sz="950" b="1">
                <a:solidFill>
                  <a:srgbClr val="A88752"/>
                </a:solidFill>
                <a:latin typeface="Inter"/>
              </a:defRPr>
            </a:pPr>
            <a:r>
              <a:t>Platform &amp; DB Lead</a:t>
            </a:r>
          </a:p>
          <a:p>
            <a:pPr>
              <a:spcBef>
                <a:spcPts val="500"/>
              </a:spcBef>
              <a:defRPr sz="850">
                <a:solidFill>
                  <a:srgbClr val="C0BEB6"/>
                </a:solidFill>
                <a:latin typeface="Inter"/>
              </a:defRPr>
            </a:pPr>
            <a:r>
              <a:t>Supabase PostgreSQL Database, Storage buckets, Next.js Server API Routes, Runtime Zod validation &amp; multi-tier cache.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3931920"/>
            <a:ext cx="1993392" cy="246888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50" b="1">
                <a:solidFill>
                  <a:srgbClr val="FBF8F2"/>
                </a:solidFill>
                <a:latin typeface="Inter"/>
              </a:defRPr>
            </a:pPr>
            <a:r>
              <a:t>Arrin Nischal Paul</a:t>
            </a:r>
          </a:p>
          <a:p>
            <a:pPr>
              <a:spcBef>
                <a:spcPts val="200"/>
              </a:spcBef>
              <a:defRPr sz="950" b="1">
                <a:solidFill>
                  <a:srgbClr val="A88752"/>
                </a:solidFill>
                <a:latin typeface="Inter"/>
              </a:defRPr>
            </a:pPr>
            <a:r>
              <a:t>Voice &amp; Speech Lead</a:t>
            </a:r>
          </a:p>
          <a:p>
            <a:pPr>
              <a:spcBef>
                <a:spcPts val="500"/>
              </a:spcBef>
              <a:defRPr sz="850">
                <a:solidFill>
                  <a:srgbClr val="C0BEB6"/>
                </a:solidFill>
                <a:latin typeface="Inter"/>
              </a:defRPr>
            </a:pPr>
            <a:r>
              <a:t>Web SpeechRecognition (STT) voice dictation, Web SpeechSynthesis (TTS) in English, Hindi (hi-IN), and Kannada (kn-IN).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3931920"/>
            <a:ext cx="1993392" cy="246888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50" b="1">
                <a:solidFill>
                  <a:srgbClr val="FBF8F2"/>
                </a:solidFill>
                <a:latin typeface="Inter"/>
              </a:defRPr>
            </a:pPr>
            <a:r>
              <a:t>Julius Thomas</a:t>
            </a:r>
          </a:p>
          <a:p>
            <a:pPr>
              <a:spcBef>
                <a:spcPts val="200"/>
              </a:spcBef>
              <a:defRPr sz="950" b="1">
                <a:solidFill>
                  <a:srgbClr val="A88752"/>
                </a:solidFill>
                <a:latin typeface="Inter"/>
              </a:defRPr>
            </a:pPr>
            <a:r>
              <a:t>Accessibility &amp; Growth Lead</a:t>
            </a:r>
          </a:p>
          <a:p>
            <a:pPr>
              <a:spcBef>
                <a:spcPts val="500"/>
              </a:spcBef>
              <a:defRPr sz="850">
                <a:solidFill>
                  <a:srgbClr val="C0BEB6"/>
                </a:solidFill>
                <a:latin typeface="Inter"/>
              </a:defRPr>
            </a:pPr>
            <a:r>
              <a:t>Inclusive Accessibility Mode (Normal/Large/XL, High-Contrast, Reduced Motion), Web Share API, WhatsApp inquiries.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The Digital Chasm Facing Grassroots Craft Creators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11F"/>
                </a:solidFill>
                <a:latin typeface="Georgia"/>
              </a:defRPr>
            </a:pPr>
            <a:r>
              <a:t>✍️ The Copywriting &amp; Language Barrier</a:t>
            </a:r>
          </a:p>
          <a:p>
            <a:pPr>
              <a:spcBef>
                <a:spcPts val="10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Millions of rural artisans produce master-level craft but lack the English copywriting skills needed to write compelling e-commerce listings, leaving their heritage invisible to urban and global buyers.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11F"/>
                </a:solidFill>
                <a:latin typeface="Georgia"/>
              </a:defRPr>
            </a:pPr>
            <a:r>
              <a:t>💰 Pricing Uncertainty &amp; Exploitation</a:t>
            </a:r>
          </a:p>
          <a:p>
            <a:pPr>
              <a:spcBef>
                <a:spcPts val="10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Without regional craft pricing benchmarks, artisans severely underprice their labor or get exploited by middlemen who capture up to 80% of retail margins while artisans earn below minimum wage.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11F"/>
                </a:solidFill>
                <a:latin typeface="Georgia"/>
              </a:defRPr>
            </a:pPr>
            <a:r>
              <a:t>📢 Discoverability &amp; Commercial Invisibility</a:t>
            </a:r>
          </a:p>
          <a:p>
            <a:pPr>
              <a:spcBef>
                <a:spcPts val="10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Handicrafts lack structured SEO keywords, WhatsApp catalog cards, Instagram copy, and multi-language reach, preventing artisans from conducting direct-to-consumer sales.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A88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E211F"/>
                </a:solidFill>
                <a:latin typeface="Inter"/>
              </a:defRPr>
            </a:pPr>
            <a:r>
              <a:t>WHY IT MATTERS: Preserves priceless cultural heritage while restoring financial dignity and direct commerce access to craft communities.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VISART: Instant E-Commerce Intelligence for Every Craft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8655F"/>
                </a:solidFill>
                <a:latin typeface="Inter"/>
              </a:defRPr>
            </a:pPr>
            <a:r>
              <a:t>VISART is an inclusive AI commerce assistant that transforms 4 simple artisan facts (product, material, cost, labor time, location) and a craft photo into a market-ready digital storefront listing in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3474720" cy="384048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Inter"/>
              </a:defRPr>
            </a:pPr>
            <a:r>
              <a:t>1. SIMPLE ARTISAN INPUT</a:t>
            </a:r>
          </a:p>
          <a:p>
            <a:pPr>
              <a:spcBef>
                <a:spcPts val="10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Enter basic material, cost, crafting time, location &amp; optional craft photo. Zero technical fluency or English copywriting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377440"/>
            <a:ext cx="3474720" cy="3840480"/>
          </a:xfrm>
          <a:prstGeom prst="roundRect">
            <a:avLst/>
          </a:prstGeom>
          <a:solidFill>
            <a:srgbClr val="F5F0E8"/>
          </a:solidFill>
          <a:ln w="19050">
            <a:solidFill>
              <a:srgbClr val="B8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Inter"/>
              </a:defRPr>
            </a:pPr>
            <a:r>
              <a:t>2. GEMINI 3.6 FLASH ANALYSIS</a:t>
            </a:r>
          </a:p>
          <a:p>
            <a:pPr>
              <a:spcBef>
                <a:spcPts val="10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Server-side multimodal vision &amp; grounded prompt architecture analyzes craft attributes, materials, and fair-wage mathematics.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377440"/>
            <a:ext cx="3474720" cy="384048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Inter"/>
              </a:defRPr>
            </a:pPr>
            <a:r>
              <a:t>3. MARKET-READY WORKSPACE</a:t>
            </a:r>
          </a:p>
          <a:p>
            <a:pPr>
              <a:spcBef>
                <a:spcPts val="10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Instant e-commerce titles, 3-tier price guidance, social marketing copy, Hindi &amp; Kannada translations, and public catalogue page.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Target Users &amp; Real-World Transformation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2062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11F"/>
                </a:solidFill>
                <a:latin typeface="Georgia"/>
              </a:defRPr>
            </a:pPr>
            <a:r>
              <a:t>🎯 TARGET AUDIENCE</a:t>
            </a:r>
          </a:p>
          <a:p>
            <a:pPr>
              <a:spcBef>
                <a:spcPts val="8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• Rural artisans &amp; generational heritage craft makers</a:t>
            </a:r>
          </a:p>
          <a:p>
            <a:pPr>
              <a:spcBef>
                <a:spcPts val="8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• Women's Self-Help Groups (SHGs) &amp; Craft Cooperatives</a:t>
            </a:r>
          </a:p>
          <a:p>
            <a:pPr>
              <a:spcBef>
                <a:spcPts val="8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• Sustainable, organic &amp; handloom textile producers</a:t>
            </a:r>
          </a:p>
          <a:p>
            <a:pPr>
              <a:spcBef>
                <a:spcPts val="8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• Fair-trade grassroots social enterprises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554480"/>
            <a:ext cx="6339535" cy="4754880"/>
          </a:xfrm>
          <a:prstGeom prst="roundRect">
            <a:avLst/>
          </a:prstGeom>
          <a:solidFill>
            <a:srgbClr val="F5F0E8"/>
          </a:solidFill>
          <a:ln w="19050">
            <a:solidFill>
              <a:srgbClr val="A88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E211F"/>
                </a:solidFill>
                <a:latin typeface="Georgia"/>
              </a:defRPr>
            </a:pPr>
            <a:r>
              <a:t>👤 REALISTIC ARTISAN SCENARIO: Ramesh (Pottery Artisan, Jaipur)</a:t>
            </a:r>
          </a:p>
          <a:p>
            <a:pPr>
              <a:spcBef>
                <a:spcPts val="800"/>
              </a:spcBef>
              <a:defRPr sz="1100" b="1">
                <a:solidFill>
                  <a:srgbClr val="B85C43"/>
                </a:solidFill>
                <a:latin typeface="Inter"/>
              </a:defRPr>
            </a:pPr>
            <a:r>
              <a:t>BEFORE VISART: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• Spends 3 days creating a Hand-Painted Clay Vase (raw cost ₹450).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• Sells to a middleman for ₹550. Middleman resells online for ₹1,800.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• Ramesh earns below minimum wage due to lack of direct marketing.</a:t>
            </a:r>
          </a:p>
          <a:p>
            <a:pPr>
              <a:spcBef>
                <a:spcPts val="800"/>
              </a:spcBef>
              <a:defRPr sz="1100" b="1">
                <a:solidFill>
                  <a:srgbClr val="B85C43"/>
                </a:solidFill>
                <a:latin typeface="Inter"/>
              </a:defRPr>
            </a:pPr>
            <a:r>
              <a:t>WITH VISART: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• Opens VISART on mobile ➔ Enters: 'Blue Pottery Vase, Clay, ₹450, 3 days, Jaipur'.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• In 3 seconds receives: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  - Title: 'Jaipur Hand-Painted Floral Blue Pottery Clay Vase'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  - Fair Price Guidance: ₹790 (Min) — ₹990 (Recommended) — ₹1,250 (Max)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  - Ready-to-use WhatsApp &amp; Instagram customer templates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  - Authentic Hindi &amp; Kannada translations + Audio story read-aloud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End-to-End System Architecture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1. Artisan Input (/create)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Captures material, cost, labor time, location, voice/text story &amp; photo upload.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57984"/>
            <a:ext cx="10728655" cy="621792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2. Frontend Client Bridge (generationClient.ts)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Downsamples image to 1200px Base64 &amp; constructs canonical JSON payload.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52928"/>
            <a:ext cx="1072865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3. Server API Route (POST /api/generate)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Safe server-side isolation; validates request via Zod VisartInputSchema.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47872"/>
            <a:ext cx="10728655" cy="621792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4. Gemini 3.6 Flash Engine (lib/ai/visart.ts)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Executes multimodal vision + structured JSON responseSchema with retry backoff.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42816"/>
            <a:ext cx="1072865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5. Schema Enforcement (VisartGenerationSchema)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Validates canonical contract &amp; sanitizes 3-tier INR price ranges.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10728655" cy="621792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6. Platform Persistence (lib/supabase/*)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Uploads photo to Supabase Storage &amp; syncs ProductRecord to Supabase Postgres.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32704"/>
            <a:ext cx="1072865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7. Artisan Workspace &amp; Public Catalogue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Interactive 5-tab workspace (/workspace) + shareable verified catalogue (/product/[id]).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Production-Grade Tech &amp; AI Stack (V1 + V2)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💻 Framework &amp; Core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Next.js 16.2 (App Router &amp; Turbopack)</a:t>
            </a:r>
            <a:br/>
            <a:r>
              <a:t>React 19.2 &amp; TypeScript 5.9</a:t>
            </a:r>
            <a:br/>
            <a:r>
              <a:t>High-performance SSR &amp; API Routes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🎨 Design &amp; Inclusive System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Tailwind CSS 4.3 + Tactile Tokens</a:t>
            </a:r>
            <a:br/>
            <a:r>
              <a:t>Playfair Display &amp; Inter Typography</a:t>
            </a:r>
            <a:br/>
            <a:r>
              <a:t>Accessible Provider (Normal/Large/XL, High-Contrast)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✨ Motion &amp; Audio Interaction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Motion 12.4 (Framer Motion) &amp; Lucide Icons</a:t>
            </a:r>
            <a:br/>
            <a:r>
              <a:t>Web SpeechSynthesis (TTS Audio Read-Aloud)</a:t>
            </a:r>
            <a:br/>
            <a:r>
              <a:t>Web SpeechRecognition (Voice-to-Form Dictation)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🧠 AI Intelligence Engine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@google/genai 2.15.0 SDK</a:t>
            </a:r>
            <a:br/>
            <a:r>
              <a:t>Gemini 3.6 Flash Multimodal Pipeline</a:t>
            </a:r>
            <a:br/>
            <a:r>
              <a:t>Structured JSON Schema Output &amp; Vision Ingestion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🛡️ Contract &amp; Security Validation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Zod 4.4 Strict Runtime Validation</a:t>
            </a:r>
            <a:br/>
            <a:r>
              <a:t>Server-Side Isolated GEMINI_API_KEY</a:t>
            </a:r>
            <a:br/>
            <a:r>
              <a:t>Sanitized Development Logging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⚡ Persistence &amp; Storage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Supabase PostgreSQL Database (UUID, JSONB)</a:t>
            </a:r>
            <a:br/>
            <a:r>
              <a:t>Supabase Storage (product-images bucket)</a:t>
            </a:r>
            <a:br/>
            <a:r>
              <a:t>Multi-Tier Cache (Memory, LocalStorage, Postgres)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Six Core V1 Commerce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🎨 Multimodal Understanding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Analyzes craft photos alongside material/location inputs to detect form factor, weaving, and color nuances.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💰 AI Fair Pricing Guidance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Calculates transparent 3-tier INR price ranges backed by raw material and labor time breakdowns.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🌐 Multilingual Reach Engine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Generates authentic translations in Hindi and Kannada for regional pan-India buyer engagement.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📢 Multi-Channel Marketing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Provides copy-paste promotional copy formatted for WhatsApp direct chat, Instagram posts, and short 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📈 Digital Readiness Scorecard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Evaluates product listings across 5 categories with top 3 actionable advice recommendations.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🔗 Public Verified Listing Page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Generates an editorial buyer-facing URL (/product/[id]) with authentic artisan badges and direct WhatsApp ordering.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Interactive Demo &amp; Workbench User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STAGE 1: INPUT FORM (/create)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Artisan inputs basic facts &amp; photo or uses voice dictation. Zero English copywriting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85232" cy="219456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STAGE 2: PROCESSING (ProcessingState)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Animated progress: Looking ➔ Understanding ➔ Composing Story ➔ Pricing ➔ Ready.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85232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8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STAGE 3: WORKBENCH (/workspace)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5 Interactive Tabs: Listing, Pricing, Marketing, Multilingual Reach, Readiness Checklist.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85232" cy="219456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STAGE 4: PUBLIC CATALOGUE (/product/[id])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Shareable buyer listing with verified badges, TTS voice narration, and direct WhatsApp inquiry.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Innovation, Integrity &amp; Measured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E211F"/>
                </a:solidFill>
                <a:latin typeface="Georgia"/>
              </a:defRPr>
            </a:pPr>
            <a:r>
              <a:t>🛡️ Strict Anti-Hallucination Rules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Gemini is strictly constrained to NEVER invent fake family lineage, unverified GI tags, or non-existent workshop history. Stories are 100–140 words grounded entirely on user inputs.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E211F"/>
                </a:solidFill>
                <a:latin typeface="Georgia"/>
              </a:defRPr>
            </a:pPr>
            <a:r>
              <a:t>🤝 Dignity Over Tragedy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VISART emphasizes craftsmanship, fair wage math, and quality product presentation rather than patronizing or tragic narratives.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E211F"/>
                </a:solidFill>
                <a:latin typeface="Georgia"/>
              </a:defRPr>
            </a:pPr>
            <a:r>
              <a:t>⚡ Input-Specific Fallback Architecture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If live AI API meets rate limits, VISART automatically executes input-specific dynamic generation so the workbench never serves static boilerplate.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1E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0C080"/>
                </a:solidFill>
                <a:latin typeface="Inter"/>
              </a:defRPr>
            </a:pPr>
            <a:r>
              <a:t>MEASURED IMPACT:  ⚡ 95% Copywriting Time Saved  |  📈 35–50% Higher Income Realization  |  🌐 100% Zero Friction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8752"/>
                </a:solidFill>
                <a:latin typeface="Inter"/>
              </a:defRPr>
            </a:pPr>
            <a:r>
              <a:t>VISART V2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BF8F2"/>
                </a:solidFill>
                <a:latin typeface="Georgia"/>
              </a:defRPr>
            </a:pPr>
            <a:r>
              <a:t>VISART V2 Shipped: The Inclusive Commerce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FDCD4"/>
                </a:solidFill>
                <a:latin typeface="Inter"/>
              </a:defRPr>
            </a:pPr>
            <a:r>
              <a:t>V1 established the core digital listing generator. V2 elevates VISART into a complete, inclusive commerce assistant empowering artisans of all digital literacy levels to create, understand, improve, voice-narrate, and share their products.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285232" cy="196596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8752"/>
                </a:solidFill>
                <a:latin typeface="Georgia"/>
              </a:defRPr>
            </a:pPr>
            <a:r>
              <a:t>♿ Inclusive Accessibility (P0)</a:t>
            </a:r>
          </a:p>
          <a:p>
            <a:pPr>
              <a:spcBef>
                <a:spcPts val="600"/>
              </a:spcBef>
              <a:defRPr sz="1000">
                <a:solidFill>
                  <a:srgbClr val="D0CEC6"/>
                </a:solidFill>
                <a:latin typeface="Inter"/>
              </a:defRPr>
            </a:pPr>
            <a:r>
              <a:t>Universal UI controls: Font resizing (Normal, Large, XL), high-contrast B&amp;W mode, reduced motion, and high-visibility focus outlines with persistent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194560"/>
            <a:ext cx="5285232" cy="196596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8752"/>
                </a:solidFill>
                <a:latin typeface="Georgia"/>
              </a:defRPr>
            </a:pPr>
            <a:r>
              <a:t>🎙️ Voice &amp; TTS Engine (P0)</a:t>
            </a:r>
          </a:p>
          <a:p>
            <a:pPr>
              <a:spcBef>
                <a:spcPts val="600"/>
              </a:spcBef>
              <a:defRPr sz="1000">
                <a:solidFill>
                  <a:srgbClr val="D0CEC6"/>
                </a:solidFill>
                <a:latin typeface="Inter"/>
              </a:defRPr>
            </a:pPr>
            <a:r>
              <a:t>Two-way voice intelligence: Web SpeechRecognition dictation for effortless craft input + SpeechSynthesis multi-language narration in EN, Hindi, and Kannada.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79"/>
            <a:ext cx="5285232" cy="196596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8752"/>
                </a:solidFill>
                <a:latin typeface="Georgia"/>
              </a:defRPr>
            </a:pPr>
            <a:r>
              <a:t>📈 Actionable Readiness (P1)</a:t>
            </a:r>
          </a:p>
          <a:p>
            <a:pPr>
              <a:spcBef>
                <a:spcPts val="600"/>
              </a:spcBef>
              <a:defRPr sz="1000">
                <a:solidFill>
                  <a:srgbClr val="D0CEC6"/>
                </a:solidFill>
                <a:latin typeface="Inter"/>
              </a:defRPr>
            </a:pPr>
            <a:r>
              <a:t>Diagnostic assessment with 'Why it matters' and 'Recommended Next Move' across 5 categories + interactive checklist for top 3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297679"/>
            <a:ext cx="5285232" cy="196596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📍 Everywhere in Workspace &amp; Catalogue</a:t>
            </a:r>
          </a:p>
          <a:p>
            <a:pPr>
              <a:spcBef>
                <a:spcPts val="600"/>
              </a:spcBef>
              <a:defRPr sz="1000">
                <a:solidFill>
                  <a:srgbClr val="D0CEC6"/>
                </a:solidFill>
                <a:latin typeface="Inter"/>
              </a:defRPr>
            </a:pPr>
            <a:r>
              <a:t>Direct visual inspection in Gemini 3.6 Flash with client-side canvas downsampling + smart commercial sharing via Web Share &amp; formatted WhatsApp inquiries.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Allows artisans with limited typing skills to tap 'Speak' in ProductForm and dictate craft details using Web Speech Recognition (en-IN / hi-IN). Includes animated listening pulses, error boundaries, and full manual editing.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Built-in browser SpeechSynthesis engine in lib/audio/tts.ts with regional locale mapping: English (en-IN), Hindi (hi-IN), and Kannada (kn-IN). Delivers native spoken audio for both artisans and prospective buyers.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Encapsulates a robust state machine (IDLE, PLAYING, PAUSED, STOPPED, ERROR) into AudioPlayerControl with play, pause, resume, and stop controls across all views.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Available on Public Product Listing header, Artisan Story card, Workspace Listing tab, Multilingual Reach panel, and Readiness Action Plan.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V2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Inclusive Accessibility &amp; Universal Usability (P0)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🔤 Dynamic Typography Scaling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Allows artisans and elders to switch between Normal (100%), Large (110%), and Extra Large (122%) root font sizes. Implemented via data-font-size attributes in globals.css without breaking editorial balance.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☀️ High-Contrast Maximum Legibility Mode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Instantly swaps surface and line tokens to high-contrast black &amp; white (#FFFFFF / #000000) with bold 3px focus indicators for users with low vision or working in bright outdoor sunlight.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⚡ Reduced Motion &amp; Keyboard Ergonomics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Disables motion transitions (animation-duration: 0.001ms) for vestibular comfort. Full keyboard accessibility with focus trapping and Escape-key dismiss in AccessibilityToolbar.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💾 Persistent Preference Sync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Preferences persist seamlessly in localStorage (visart_accessibility_prefs) and synchronize instantly across landing, creation, workspace, and catalogue routes.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V2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Two-Way Voice Intelligence: Dictation &amp; Narration (P0)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V2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Actionable Readiness Diagnostics &amp; Smart Sharing (P0/P1)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📊 5-Category Diagnostic Breakdown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Replaces static scores with diagnostic cards across Photography, Description, Discoverability, Pricing, and Marketing—explaining 'Why it matters' and providing concrete improvement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✅ Interactive Action Checklist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Top 3 Next Moves generated by AI become an interactive checklist that artisans can mark as completed with visual confirmation badges.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📱 Smart Commercial Customer Sharing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Integrated Web Share API (navigator.share) with automatic clipboard fallback and feedback toasts. Buyers can share authentic craft listings with one click.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💬 Structured WhatsApp Order Inquiries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Pre-populates direct WhatsApp messages with product title, listed price, craft time, artisan location, and direct catalogue link for instant buyer orders.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V2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Multimodal Vision Intelligence &amp; Production Resilience (P1)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🖼️ Client-Side Canvas Preprocessing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Uploaded craft photos are resized to max 1200px on canvas and converted to lightweight Base64 (image/jpeg, 0.85 quality) in generationClient.ts for fast, robust API payload transfer.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🧠 Gemini 3.6 Flash Vision Ingestion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Passed as inlineData to Gemini 3.6 Flash. The model visually inspects textures, patterns, and materials while strictly prioritizing user-entered facts to prevent hallucinations.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🔄 Exponential Retry &amp; Network Resilience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Automatic retry with backoff for transient 503/429 spikes, socket closures, and timeout errors, ensuring zero crashes under network fluctuation.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🎯 Single Source of Truth Architecture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Eliminated hardcoded URLs on homepage; all demo components consume the canonical demoProduct fixture, ensuring zero regression across dev and production.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8752"/>
                </a:solidFill>
                <a:latin typeface="Inter"/>
              </a:defRPr>
            </a:pPr>
            <a:r>
              <a:t>LIVE VERIFICATION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BF8F2"/>
                </a:solidFill>
                <a:latin typeface="Georgia"/>
              </a:defRPr>
            </a:pPr>
            <a:r>
              <a:t>V2 Live Summary &amp; Future V3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85232" cy="3566160"/>
          </a:xfrm>
          <a:prstGeom prst="roundRect">
            <a:avLst/>
          </a:prstGeom>
          <a:solidFill>
            <a:srgbClr val="2A2E2B"/>
          </a:solidFill>
          <a:ln w="19050">
            <a:solidFill>
              <a:srgbClr val="547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FBF8F2"/>
                </a:solidFill>
                <a:latin typeface="Georgia"/>
              </a:defRPr>
            </a:pPr>
            <a:r>
              <a:t>✅ VISART V2 SHIPPED &amp; VERIFIED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100/100 V2 Audit Score across all P0/P1/P2 requirements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0 ESLint errors/warnings &amp; Turbopack build exit code 0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Live Gemini 3.6 Flash multimodal discrimination verified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Multi-language speech synthesis &amp; voice dictation live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Full persistence across Supabase Postgres, storage &amp; local cache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85232" cy="3566160"/>
          </a:xfrm>
          <a:prstGeom prst="roundRect">
            <a:avLst/>
          </a:prstGeom>
          <a:solidFill>
            <a:srgbClr val="2A2E2B"/>
          </a:solidFill>
          <a:ln w="19050">
            <a:solidFill>
              <a:srgbClr val="A88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A88752"/>
                </a:solidFill>
                <a:latin typeface="Georgia"/>
              </a:defRPr>
            </a:pPr>
            <a:r>
              <a:t>🔮 V3 FUTURE ROADMAP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🏷️ Digital Craft Certificates: On-chain provenance &amp; authenticity QR tags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📱 WhatsApp Conversational Listing Bot: Full listing creation inside WhatsApp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👥 Cooperative &amp; SHG Aggregator Hub: Group inventory &amp; bulk order management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🌍 Multilingual Voice Translation: Real-time buyer/artisan audio dialogue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728655" cy="1005840"/>
          </a:xfrm>
          <a:prstGeom prst="roundRect">
            <a:avLst/>
          </a:prstGeom>
          <a:solidFill>
            <a:srgbClr val="25201E"/>
          </a:solidFill>
          <a:ln w="19050">
            <a:solidFill>
              <a:srgbClr val="B8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BF8F2"/>
                </a:solidFill>
                <a:latin typeface="Georgia"/>
              </a:defRPr>
            </a:pPr>
            <a:r>
              <a:t>"VISART bridges ancient traditional craft and modern digital commerce—giving grassroots artisans a voice, a fair price, and an inclusive global marketplace."</a:t>
            </a:r>
          </a:p>
          <a:p>
            <a:pPr>
              <a:spcBef>
                <a:spcPts val="400"/>
              </a:spcBef>
              <a:defRPr sz="1000">
                <a:solidFill>
                  <a:srgbClr val="A88752"/>
                </a:solidFill>
                <a:latin typeface="Inter"/>
              </a:defRPr>
            </a:pPr>
            <a:r>
              <a:t>🔗 GitHub: ArrinPaul/Visart  •  ⚡ Live Server: http://localhost:3000  •  🌿 Built for InHack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